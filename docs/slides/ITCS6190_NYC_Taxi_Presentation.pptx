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Trips</c:v>
                </c:pt>
              </c:strCache>
            </c:strRef>
          </c:tx>
          <c:spPr>
            <a:solidFill>
              <a:srgbClr val="F4B4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12a</c:v>
                  </c:pt>
                  <c:pt idx="1">
                    <c:v>2a</c:v>
                  </c:pt>
                  <c:pt idx="2">
                    <c:v>4a</c:v>
                  </c:pt>
                  <c:pt idx="3">
                    <c:v>6a</c:v>
                  </c:pt>
                  <c:pt idx="4">
                    <c:v>8a</c:v>
                  </c:pt>
                  <c:pt idx="5">
                    <c:v>10a</c:v>
                  </c:pt>
                  <c:pt idx="6">
                    <c:v>12p</c:v>
                  </c:pt>
                  <c:pt idx="7">
                    <c:v>2p</c:v>
                  </c:pt>
                  <c:pt idx="8">
                    <c:v>4p</c:v>
                  </c:pt>
                  <c:pt idx="9">
                    <c:v>6p</c:v>
                  </c:pt>
                  <c:pt idx="10">
                    <c:v>8p</c:v>
                  </c:pt>
                  <c:pt idx="11">
                    <c:v>10p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385</c:v>
                </c:pt>
                <c:pt idx="1">
                  <c:v>170</c:v>
                </c:pt>
                <c:pt idx="2">
                  <c:v>277</c:v>
                </c:pt>
                <c:pt idx="3">
                  <c:v>986</c:v>
                </c:pt>
                <c:pt idx="4">
                  <c:v>2755</c:v>
                </c:pt>
                <c:pt idx="5">
                  <c:v>1745</c:v>
                </c:pt>
                <c:pt idx="6">
                  <c:v>2162</c:v>
                </c:pt>
                <c:pt idx="7">
                  <c:v>1918</c:v>
                </c:pt>
                <c:pt idx="8">
                  <c:v>3047</c:v>
                </c:pt>
                <c:pt idx="9">
                  <c:v>2741</c:v>
                </c:pt>
                <c:pt idx="10">
                  <c:v>2076</c:v>
                </c:pt>
                <c:pt idx="11">
                  <c:v>1614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5F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5F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8"/>
        </a:solidFill>
        <a:ln>
          <a:noFill/>
        </a:ln>
        <a:effectLst/>
      </c:spPr>
    </c:plotArea>
    <c:plotVisOnly val="1"/>
    <c:dispBlanksAs val="span"/>
  </c:chart>
  <c:spPr>
    <a:solidFill>
      <a:srgbClr val="FAFAF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duration (min)</c:v>
                </c:pt>
              </c:strCache>
            </c:strRef>
          </c:tx>
          <c:spPr>
            <a:solidFill>
              <a:srgbClr val="D64545"/>
            </a:solidFill>
            <a:ln w="38100" cap="flat">
              <a:solidFill>
                <a:srgbClr val="D64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4545"/>
              </a:solidFill>
              <a:ln w="9525" cap="flat">
                <a:solidFill>
                  <a:srgbClr val="D64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12a</c:v>
                  </c:pt>
                  <c:pt idx="1">
                    <c:v>2a</c:v>
                  </c:pt>
                  <c:pt idx="2">
                    <c:v>4a</c:v>
                  </c:pt>
                  <c:pt idx="3">
                    <c:v>6a</c:v>
                  </c:pt>
                  <c:pt idx="4">
                    <c:v>8a</c:v>
                  </c:pt>
                  <c:pt idx="5">
                    <c:v>10a</c:v>
                  </c:pt>
                  <c:pt idx="6">
                    <c:v>12p</c:v>
                  </c:pt>
                  <c:pt idx="7">
                    <c:v>2p</c:v>
                  </c:pt>
                  <c:pt idx="8">
                    <c:v>4p</c:v>
                  </c:pt>
                  <c:pt idx="9">
                    <c:v>6p</c:v>
                  </c:pt>
                  <c:pt idx="10">
                    <c:v>8p</c:v>
                  </c:pt>
                  <c:pt idx="11">
                    <c:v>10p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9.85</c:v>
                </c:pt>
                <c:pt idx="1">
                  <c:v>10</c:v>
                </c:pt>
                <c:pt idx="2">
                  <c:v>9.69</c:v>
                </c:pt>
                <c:pt idx="3">
                  <c:v>12.07</c:v>
                </c:pt>
                <c:pt idx="4">
                  <c:v>18.48</c:v>
                </c:pt>
                <c:pt idx="5">
                  <c:v>18.92</c:v>
                </c:pt>
                <c:pt idx="6">
                  <c:v>12.37</c:v>
                </c:pt>
                <c:pt idx="7">
                  <c:v>12.07</c:v>
                </c:pt>
                <c:pt idx="8">
                  <c:v>20.8</c:v>
                </c:pt>
                <c:pt idx="9">
                  <c:v>21.21</c:v>
                </c:pt>
                <c:pt idx="10">
                  <c:v>12.42</c:v>
                </c:pt>
                <c:pt idx="11">
                  <c:v>12.15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5F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5F6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5F66"/>
                    </a:solidFill>
                    <a:latin typeface="Arial"/>
                  </a:rPr>
                  <a:t>Minutes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5F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1F1ED"/>
        </a:solidFill>
        <a:ln>
          <a:noFill/>
        </a:ln>
        <a:effectLst/>
      </c:spPr>
    </c:plotArea>
    <c:plotVisOnly val="1"/>
    <c:dispBlanksAs val="span"/>
  </c:chart>
  <c:spPr>
    <a:solidFill>
      <a:srgbClr val="FAFAF8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F4B4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trip_distance</c:v>
                  </c:pt>
                  <c:pt idx="1">
                    <c:v>is_rush_hour</c:v>
                  </c:pt>
                  <c:pt idx="2">
                    <c:v>pickup_hour</c:v>
                  </c:pt>
                  <c:pt idx="3">
                    <c:v>passenger_count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78.1</c:v>
                </c:pt>
                <c:pt idx="1">
                  <c:v>16.3</c:v>
                </c:pt>
                <c:pt idx="2">
                  <c:v>4.7</c:v>
                </c:pt>
                <c:pt idx="3">
                  <c:v>0.9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5F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5F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AFAF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I'm Gopi. Today I'll walk through a Spark pipeline I built on NYC taxi data — the question I set out to answer was simple: can we predict how long a cab ride will take, and what actually drives that?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roadmap — I'm going to spend extra time on the streaming section because that's where I actually got something wrong and had to fix it, and I think that's the most useful part to talk 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is the NYC TLC Yellow Taxi trip records — public dataset, I generated a representative 40K-row sample with the same statistical patterns as the real thing for fast iteration, then validated everything against almost 3 million real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part the rubric cares most about — all four required Spark components are here: DataFrame APIs, Spark SQL, Structured Streaming, and MLlib, plus EDA at the end for the visualizations.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straight Spark SQL — group by pickup hour, count trips, average duration. The shape isn't surprising if you've lived in a city, but it's exactly the kind of pattern the model needs to learn.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chart is really the thesis of the whole project — it's why a model that only looks at distance isn't good enough, and why I built in rush-hour as an explicit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built this stage with two modes because they genuinely solve different problems — one for the reproducible grading run, one for an actual always-on service. Next slide is the story of how I figured that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I'm including this slide on purpose — I think showing where I was wrong and how I fixed it, with help from a check-in comment, is more honest than pretending the first version was clean. This was genuinely the hardest part of the project for 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clean sample both models look similar, which honestly surprised me at first — but real data is messier and more non-linear, and that's exactly where Random Forest's advantage shows up. That gap is the most convincing evidence I have for why model choice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for the rubric line about reproducibility and code quality — I wanted reviewers to be able to clone the repo and get the same numbers I'm showing today, not just trust a screenshot.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be upfront that this is a solid v1, not a finished product — and I think being clear about that is more credible than overselling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 — I have the live demo loaded if anyone wants to see the predictor in action, and I'm happy to pull up any part of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828800"/>
            <a:ext cx="5943600" cy="5943600"/>
          </a:xfrm>
          <a:prstGeom prst="ellipse">
            <a:avLst/>
          </a:prstGeom>
          <a:solidFill>
            <a:srgbClr val="F4B4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502920"/>
            <a:ext cx="1463040" cy="1463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55448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NYC Taxi Trip-Duration Analysis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48640" y="2880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Apache Spark pipeline for predicting how long a cab ride really takes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41605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Gopi Bharath Makkena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ITCS 6190 — Cloud Computing for Data Analysis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 Charlotte · Summer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I'll 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minutes, five stages — from raw trips to a working prediction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F4B4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49047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dataset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783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trip duration, and what data backs it up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20370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249631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APIs → Spark SQL → Streaming → MLlib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935224"/>
            <a:ext cx="457200" cy="457200"/>
          </a:xfrm>
          <a:prstGeom prst="ellipse">
            <a:avLst/>
          </a:prstGeom>
          <a:solidFill>
            <a:srgbClr val="F4B40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35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291693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32095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duration patterns across the city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64845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63016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streaming stage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88720" y="392277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real lesson learned about trigger modes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61688"/>
            <a:ext cx="457200" cy="457200"/>
          </a:xfrm>
          <a:prstGeom prst="ellipse">
            <a:avLst/>
          </a:prstGeom>
          <a:solidFill>
            <a:srgbClr val="F4B40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361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4343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&amp; what it got right (and wrong)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88720" y="463600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limitations, and what I'd do next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732520" y="486460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trip duration?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you've ever sat in a cab watching the meter climb past what Google Maps promised, you already know the problem: 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alone is a bad predictor of trip time in a city like New York.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I set out to answer: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pickup time, location, and distance predict how long a trip takes?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and when does NYC taxi demand actually spike — and does that change how long rides take?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3794760"/>
            <a:ext cx="5029200" cy="731520"/>
          </a:xfrm>
          <a:prstGeom prst="rect">
            <a:avLst/>
          </a:prstGeom>
          <a:solidFill>
            <a:srgbClr val="F1F1E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50208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8587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NYC TLC Yellow Taxi Trip Records — public, free to use, no licensing restrictions.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97880" y="914400"/>
            <a:ext cx="2743200" cy="3611880"/>
          </a:xfrm>
          <a:prstGeom prst="rect">
            <a:avLst/>
          </a:prstGeom>
          <a:solidFill>
            <a:srgbClr val="151B2E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12648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0" y="15087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126480" y="18928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records (seeded sample)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126480" y="222199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+2.96M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12648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TLC rows, validated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26480" y="29352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126480" y="3319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pickup zones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126480" y="36484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126480" y="40325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per trip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732520" y="486460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pipeline fits together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AB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— bash run.sh — chains all five stages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463040" cy="2606040"/>
          </a:xfrm>
          <a:prstGeom prst="rect">
            <a:avLst/>
          </a:prstGeom>
          <a:solidFill>
            <a:srgbClr val="1E2740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645920"/>
            <a:ext cx="548640" cy="548640"/>
          </a:xfrm>
          <a:prstGeom prst="ellipse">
            <a:avLst/>
          </a:prstGeom>
          <a:solidFill>
            <a:srgbClr val="F4B40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" y="1773936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03504" y="2724912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APIs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603504" y="3035808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schema → curated Parquet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029968" y="2542032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240280" y="1417320"/>
            <a:ext cx="1463040" cy="2606040"/>
          </a:xfrm>
          <a:prstGeom prst="rect">
            <a:avLst/>
          </a:prstGeom>
          <a:solidFill>
            <a:srgbClr val="1E2740"/>
          </a:solidFill>
          <a:ln/>
        </p:spPr>
      </p:sp>
      <p:sp>
        <p:nvSpPr>
          <p:cNvPr id="12" name="Shape 9"/>
          <p:cNvSpPr/>
          <p:nvPr/>
        </p:nvSpPr>
        <p:spPr>
          <a:xfrm>
            <a:off x="2697480" y="1645920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496" y="177393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295144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+ SQL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295144" y="2724912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SQL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2295144" y="3035808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join, aggregate demand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3721608" y="2542032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3931920" y="1417320"/>
            <a:ext cx="1463040" cy="2606040"/>
          </a:xfrm>
          <a:prstGeom prst="rect">
            <a:avLst/>
          </a:prstGeom>
          <a:solidFill>
            <a:srgbClr val="1E2740"/>
          </a:solidFill>
          <a:ln/>
        </p:spPr>
      </p:sp>
      <p:sp>
        <p:nvSpPr>
          <p:cNvPr id="19" name="Shape 15"/>
          <p:cNvSpPr/>
          <p:nvPr/>
        </p:nvSpPr>
        <p:spPr>
          <a:xfrm>
            <a:off x="4389120" y="1645920"/>
            <a:ext cx="548640" cy="548640"/>
          </a:xfrm>
          <a:prstGeom prst="ellipse">
            <a:avLst/>
          </a:prstGeom>
          <a:solidFill>
            <a:srgbClr val="F4B400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177393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986784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3986784" y="2724912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Streaming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3986784" y="3035808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micro-batches, live aggregation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5413248" y="2542032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623560" y="1417320"/>
            <a:ext cx="1463040" cy="2606040"/>
          </a:xfrm>
          <a:prstGeom prst="rect">
            <a:avLst/>
          </a:prstGeom>
          <a:solidFill>
            <a:srgbClr val="1E2740"/>
          </a:solidFill>
          <a:ln/>
        </p:spPr>
      </p:sp>
      <p:sp>
        <p:nvSpPr>
          <p:cNvPr id="26" name="Shape 21"/>
          <p:cNvSpPr/>
          <p:nvPr/>
        </p:nvSpPr>
        <p:spPr>
          <a:xfrm>
            <a:off x="6080760" y="1645920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8776" y="177393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678424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MLlib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5678424" y="2724912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850" dirty="0"/>
          </a:p>
        </p:txBody>
      </p:sp>
      <p:sp>
        <p:nvSpPr>
          <p:cNvPr id="30" name="Text 24"/>
          <p:cNvSpPr/>
          <p:nvPr/>
        </p:nvSpPr>
        <p:spPr>
          <a:xfrm>
            <a:off x="5678424" y="3035808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+ Linear Regression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7104888" y="2542032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2" name="Shape 26"/>
          <p:cNvSpPr/>
          <p:nvPr/>
        </p:nvSpPr>
        <p:spPr>
          <a:xfrm>
            <a:off x="7315200" y="1417320"/>
            <a:ext cx="1463040" cy="2606040"/>
          </a:xfrm>
          <a:prstGeom prst="rect">
            <a:avLst/>
          </a:prstGeom>
          <a:solidFill>
            <a:srgbClr val="1E2740"/>
          </a:solidFill>
          <a:ln/>
        </p:spPr>
      </p:sp>
      <p:sp>
        <p:nvSpPr>
          <p:cNvPr id="33" name="Shape 27"/>
          <p:cNvSpPr/>
          <p:nvPr/>
        </p:nvSpPr>
        <p:spPr>
          <a:xfrm>
            <a:off x="7772400" y="1645920"/>
            <a:ext cx="548640" cy="548640"/>
          </a:xfrm>
          <a:prstGeom prst="ellipse">
            <a:avLst/>
          </a:prstGeom>
          <a:solidFill>
            <a:srgbClr val="F4B400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0416" y="177393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370064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7370064" y="2724912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SQL + viz</a:t>
            </a:r>
            <a:endParaRPr lang="en-US" sz="850" dirty="0"/>
          </a:p>
        </p:txBody>
      </p:sp>
      <p:sp>
        <p:nvSpPr>
          <p:cNvPr id="37" name="Text 30"/>
          <p:cNvSpPr/>
          <p:nvPr/>
        </p:nvSpPr>
        <p:spPr>
          <a:xfrm>
            <a:off x="7370064" y="3035808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and summary statistics</a:t>
            </a:r>
            <a:endParaRPr lang="en-US" sz="850" dirty="0"/>
          </a:p>
        </p:txBody>
      </p:sp>
      <p:sp>
        <p:nvSpPr>
          <p:cNvPr id="38" name="Text 31"/>
          <p:cNvSpPr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AB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also unit-tested — 13 tests, run automatically in CI on every push.</a:t>
            </a:r>
            <a:endParaRPr lang="en-US" sz="1100" dirty="0"/>
          </a:p>
        </p:txBody>
      </p:sp>
      <p:sp>
        <p:nvSpPr>
          <p:cNvPr id="39" name="Text 32"/>
          <p:cNvSpPr/>
          <p:nvPr/>
        </p:nvSpPr>
        <p:spPr>
          <a:xfrm>
            <a:off x="8732520" y="486460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New Yorkers actually hail a cab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503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volume by hour of day — Spark SQL aggregation over 39,200 valid trips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2120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280160"/>
            <a:ext cx="2743200" cy="1508760"/>
          </a:xfrm>
          <a:prstGeom prst="rect">
            <a:avLst/>
          </a:prstGeom>
          <a:solidFill>
            <a:srgbClr val="151B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44752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126480" y="1874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Rush hour nearly doubles trip time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12648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7–10am &amp; 4–7pm: ~19–21 min vs ~10 min overnight, same ~2.9mi avg distance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5943600" y="2971800"/>
            <a:ext cx="2743200" cy="1554480"/>
          </a:xfrm>
          <a:prstGeom prst="rect">
            <a:avLst/>
          </a:prstGeom>
          <a:solidFill>
            <a:srgbClr val="F1F1E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136392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12648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Manhattan dominates pickups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6126480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of trips start in Manhattan; Times Sq/Theatre District alone is ~6% of the entire dataset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8732520" y="486460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distance, very different trip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503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trip duration by hour — this is the signal the model has to catch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80467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dispatcher (or a rider) using distance alone to estimate trip time would be </a:t>
            </a:r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systematically wrong during rush hour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off by nearly double.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732520" y="486460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Streaming, in two modes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503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Simulating a live feed of trip events with 12 micro-batches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886200" cy="3200400"/>
          </a:xfrm>
          <a:prstGeom prst="rect">
            <a:avLst/>
          </a:prstGeom>
          <a:solidFill>
            <a:srgbClr val="151B2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MODE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CC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trigger(availableNow=True)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Drains every file on disk, then stops</a:t>
            </a:r>
            <a:endParaRPr lang="en-US" sz="11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run.sh / make run</a:t>
            </a:r>
            <a:endParaRPr lang="en-US" sz="11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tool for a single, reproducible pipeline run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325880"/>
            <a:ext cx="3886200" cy="32004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1810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F4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trigger(processingTime="5 sec")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1945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the source every 5 seconds, forever</a:t>
            </a:r>
            <a:endParaRPr lang="en-US" sz="11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real, always-on deployment would use</a:t>
            </a:r>
            <a:endParaRPr lang="en-US" sz="11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via: streaming.py --continuous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732520" y="486460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worth talking about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AB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got wrong with availableNow, and what Professor Vieira's feedback fixed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840480" cy="3154680"/>
          </a:xfrm>
          <a:prstGeom prst="rect">
            <a:avLst/>
          </a:prstGeom>
          <a:solidFill>
            <a:srgbClr val="1E274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1993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tried first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23317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added a time.sleep() before starting the stream, hoping it would let in-flight files finish writing before availableNow ran.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32004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didn't work — and couldn't have. availableNow only looks at what's on disk the moment it starts, no matter how long you wait first.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371600"/>
            <a:ext cx="3840480" cy="3154680"/>
          </a:xfrm>
          <a:prstGeom prst="rect">
            <a:avLst/>
          </a:prstGeom>
          <a:solidFill>
            <a:srgbClr val="0E7C7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544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983480" y="1993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fix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983480" y="23317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AF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availableNow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A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for </a:t>
            </a:r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EA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"drain what's here, then stop."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A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real continuous stream, use 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AF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trigger(processingTime="5 seconds")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A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awaitTermination() instead.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98348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src/streaming.py ships both modes, each used for what it's actually good at.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732520" y="486460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trip duration with MLlib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503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vs. Linear Regression — 80/20 split, seed 42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645920" cy="1051560"/>
          </a:xfrm>
          <a:prstGeom prst="rect">
            <a:avLst/>
          </a:prstGeom>
          <a:solidFill>
            <a:srgbClr val="151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3.87 min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377440" y="1280160"/>
            <a:ext cx="1645920" cy="1051560"/>
          </a:xfrm>
          <a:prstGeom prst="rect">
            <a:avLst/>
          </a:prstGeom>
          <a:solidFill>
            <a:srgbClr val="151B2E"/>
          </a:solidFill>
          <a:ln/>
        </p:spPr>
      </p:sp>
      <p:sp>
        <p:nvSpPr>
          <p:cNvPr id="8" name="Text 6"/>
          <p:cNvSpPr/>
          <p:nvPr/>
        </p:nvSpPr>
        <p:spPr>
          <a:xfrm>
            <a:off x="2377440" y="1417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2.63 min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37744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06240" y="1280160"/>
            <a:ext cx="1645920" cy="1051560"/>
          </a:xfrm>
          <a:prstGeom prst="rect">
            <a:avLst/>
          </a:prstGeom>
          <a:solidFill>
            <a:srgbClr val="151B2E"/>
          </a:solidFill>
          <a:ln/>
        </p:spPr>
      </p:sp>
      <p:sp>
        <p:nvSpPr>
          <p:cNvPr id="11" name="Text 9"/>
          <p:cNvSpPr/>
          <p:nvPr/>
        </p:nvSpPr>
        <p:spPr>
          <a:xfrm>
            <a:off x="4206240" y="1417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0.867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20624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23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— primary model, 40 trees, depth 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2788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drives the prediction: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" y="3063240"/>
          <a:ext cx="5120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5943600" y="1280160"/>
            <a:ext cx="2743200" cy="3383280"/>
          </a:xfrm>
          <a:prstGeom prst="rect">
            <a:avLst/>
          </a:prstGeom>
          <a:solidFill>
            <a:srgbClr val="F1F1ED"/>
          </a:solidFill>
          <a:ln/>
        </p:spPr>
      </p:sp>
      <p:sp>
        <p:nvSpPr>
          <p:cNvPr id="17" name="Text 14"/>
          <p:cNvSpPr/>
          <p:nvPr/>
        </p:nvSpPr>
        <p:spPr>
          <a:xfrm>
            <a:off x="6172200" y="1463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THE BASELINE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17220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scores nearly identically on the clean sample (R² 0.866)...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7220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...but on real, noisy TLC data the gap opens wide: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17220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0.735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17220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Forest, real data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17220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0.305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17220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Regression, real data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732520" y="486460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be reproduced, not just demoed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503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practices that back up the results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840480" cy="1508760"/>
          </a:xfrm>
          <a:prstGeom prst="rect">
            <a:avLst/>
          </a:prstGeom>
          <a:solidFill>
            <a:srgbClr val="F1F1ED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72768"/>
            <a:ext cx="548640" cy="548640"/>
          </a:xfrm>
          <a:prstGeom prst="ellipse">
            <a:avLst/>
          </a:prstGeom>
          <a:solidFill>
            <a:srgbClr val="151B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700784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17320" y="18745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run.sh runs all 5 stages, raw data to final metrics, in ~90 seconds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63440" y="1371600"/>
            <a:ext cx="3840480" cy="1508760"/>
          </a:xfrm>
          <a:prstGeom prst="rect">
            <a:avLst/>
          </a:prstGeom>
          <a:solidFill>
            <a:srgbClr val="F1F1ED"/>
          </a:solidFill>
          <a:ln/>
        </p:spPr>
      </p:sp>
      <p:sp>
        <p:nvSpPr>
          <p:cNvPr id="10" name="Shape 7"/>
          <p:cNvSpPr/>
          <p:nvPr/>
        </p:nvSpPr>
        <p:spPr>
          <a:xfrm>
            <a:off x="4846320" y="1572768"/>
            <a:ext cx="548640" cy="548640"/>
          </a:xfrm>
          <a:prstGeom prst="ellipse">
            <a:avLst/>
          </a:prstGeom>
          <a:solidFill>
            <a:srgbClr val="151B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700784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unit tests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532120" y="18745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Schema, cleaning rules, SQL aggregation, streaming logic, and model fitting — all tested on static data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063240"/>
            <a:ext cx="3840480" cy="1508760"/>
          </a:xfrm>
          <a:prstGeom prst="rect">
            <a:avLst/>
          </a:prstGeom>
          <a:solidFill>
            <a:srgbClr val="F1F1ED"/>
          </a:solidFill>
          <a:ln/>
        </p:spPr>
      </p:sp>
      <p:sp>
        <p:nvSpPr>
          <p:cNvPr id="15" name="Shape 11"/>
          <p:cNvSpPr/>
          <p:nvPr/>
        </p:nvSpPr>
        <p:spPr>
          <a:xfrm>
            <a:off x="731520" y="3264408"/>
            <a:ext cx="548640" cy="548640"/>
          </a:xfrm>
          <a:prstGeom prst="ellipse">
            <a:avLst/>
          </a:prstGeom>
          <a:solidFill>
            <a:srgbClr val="151B2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3392424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2278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on every push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417320" y="35661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runs the full suite automatically — currently green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663440" y="3063240"/>
            <a:ext cx="3840480" cy="1508760"/>
          </a:xfrm>
          <a:prstGeom prst="rect">
            <a:avLst/>
          </a:prstGeom>
          <a:solidFill>
            <a:srgbClr val="F1F1ED"/>
          </a:solidFill>
          <a:ln/>
        </p:spPr>
      </p:sp>
      <p:sp>
        <p:nvSpPr>
          <p:cNvPr id="20" name="Shape 15"/>
          <p:cNvSpPr/>
          <p:nvPr/>
        </p:nvSpPr>
        <p:spPr>
          <a:xfrm>
            <a:off x="4846320" y="3264408"/>
            <a:ext cx="548640" cy="548640"/>
          </a:xfrm>
          <a:prstGeom prst="ellipse">
            <a:avLst/>
          </a:prstGeom>
          <a:solidFill>
            <a:srgbClr val="151B2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392424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32278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real pull requests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532120" y="35661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fixes went through actual PR review, not just direct commits to main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8732520" y="486460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I'd do with more time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AB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limitations, and where this naturally extends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weather, traffic incidents, or events data joined in</a:t>
            </a:r>
            <a:endParaRPr lang="en-US" sz="11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simulates a feed from static files, not a true live source</a:t>
            </a:r>
            <a:endParaRPr lang="en-US" sz="11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Real-data R² (0.735) is meaningfully lower than the sample's (0.867)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0" y="16916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 with CrossValidator on the real TLC dataset</a:t>
            </a:r>
            <a:endParaRPr lang="en-US" sz="11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weather data — rain/snow likely a real driver of duration</a:t>
            </a:r>
            <a:endParaRPr lang="en-US" sz="11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an actual Kafka feed instead of simulated micro-batches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changes the core finding — time of day matters as much as distance — but it would tighten the estimate.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732520" y="486460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B4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2011680"/>
            <a:ext cx="5486400" cy="5486400"/>
          </a:xfrm>
          <a:prstGeom prst="ellipse">
            <a:avLst/>
          </a:prstGeom>
          <a:solidFill>
            <a:srgbClr val="151B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31089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0" y="11887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Thanks — let's talk about it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3657600" y="1965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Questions, pushback, and the parts I might have gotten wrong are all welcome.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657600" y="283464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200" b="1" dirty="0">
                <a:solidFill>
                  <a:srgbClr val="15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Gopi Bharath Makkena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5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github.com/gmakkena9/itcs6190-taxi-project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5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gmakkena9.github.io/itcs6190-taxi-project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931920" y="4434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ITCS 6190 · Summer 2026 · UNC Charlotte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NYC Taxi Trip-Duration Analysis — ITCS 6190</dc:title>
  <dc:subject>PptxGenJS Presentation</dc:subject>
  <dc:creator>Gopi Bharath Makkena</dc:creator>
  <cp:lastModifiedBy>Gopi Bharath Makkena</cp:lastModifiedBy>
  <cp:revision>1</cp:revision>
  <dcterms:created xsi:type="dcterms:W3CDTF">2026-06-19T22:23:27Z</dcterms:created>
  <dcterms:modified xsi:type="dcterms:W3CDTF">2026-06-19T22:23:27Z</dcterms:modified>
</cp:coreProperties>
</file>