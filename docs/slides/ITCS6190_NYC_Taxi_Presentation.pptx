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7110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82880" y="1097280"/>
            <a:ext cx="2926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dirty="0">
                <a:solidFill>
                  <a:srgbClr val="000000"/>
                </a:solidFill>
              </a:rPr>
              <a:t>🚕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3566160" y="457200"/>
            <a:ext cx="5394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Taxi</a:t>
            </a:r>
            <a:endParaRPr lang="en-US" sz="3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Trip-Duration</a:t>
            </a:r>
            <a:endParaRPr lang="en-US" sz="3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566160" y="30175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 End-to-End Pipeline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66160" y="35661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ITCS 6190 — Cloud Computing for Data Analysis  |  Summer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566160" y="40233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Gopi Bharath Makkena  ·  Solo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29260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256032" y="1005840"/>
            <a:ext cx="50292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1005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00584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Dataset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26187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predicting and why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" y="1773936"/>
            <a:ext cx="50292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6032" y="17739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177393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20299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Structured APIs → SQL → Streaming → MLlib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2542032"/>
            <a:ext cx="50292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56032" y="25420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5420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Demand Patterns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279806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&amp; where New Yorkers hail cabs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56032" y="3310128"/>
            <a:ext cx="50292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56032" y="33101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331012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Results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35661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0.87 — distance + rush-hour drive duration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6032" y="4078224"/>
            <a:ext cx="502920" cy="502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56032" y="40782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68680" y="407822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8680" y="43342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 for dispatchers &amp; future 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92608" y="4572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&amp; Dataset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52331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NYC TLC Yellow Taxi Trip Records  ·  40,000-row seeded sample (+ real 3M-row validation)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56032" y="1005840"/>
            <a:ext cx="4114800" cy="3657600"/>
          </a:xfrm>
          <a:prstGeom prst="rect">
            <a:avLst/>
          </a:prstGeom>
          <a:solidFill>
            <a:srgbClr val="131929"/>
          </a:solidFill>
          <a:ln w="1270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26280" y="1005840"/>
            <a:ext cx="4343400" cy="3657600"/>
          </a:xfrm>
          <a:prstGeom prst="rect">
            <a:avLst/>
          </a:prstGeom>
          <a:solidFill>
            <a:srgbClr val="131929"/>
          </a:solidFill>
          <a:ln w="1270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97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Questions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554480"/>
            <a:ext cx="37490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predict trip duration (minutes) from distance, time-of-day, and pickup zone?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demand and duration vary across the city — when and where are the hotspots?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63440" y="1097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Facts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554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806440" y="160934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sample rows (13 cols)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04825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806440" y="2103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TLC Jan-2024 Parquet rows (validated)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63440" y="254203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806440" y="2596896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zones (Manhattan, Queens, Brooklyn)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303580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806440" y="3090672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schema columns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352958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806440" y="358444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dirty rows (injected for cleaning demo)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29260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56032" y="1005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bash run.sh command chains every Spark stage end-to-end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56032" y="1051560"/>
            <a:ext cx="8412480" cy="530352"/>
          </a:xfrm>
          <a:prstGeom prst="rect">
            <a:avLst/>
          </a:prstGeom>
          <a:solidFill>
            <a:srgbClr val="2D4263"/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1430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80160" y="11430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generate_sample.py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" y="1691640"/>
            <a:ext cx="8412480" cy="530352"/>
          </a:xfrm>
          <a:prstGeom prst="rect">
            <a:avLst/>
          </a:prstGeom>
          <a:solidFill>
            <a:srgbClr val="1A5C4A"/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7830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80160" y="1783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ingestion.py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331720"/>
            <a:ext cx="8412480" cy="530352"/>
          </a:xfrm>
          <a:prstGeom prst="rect">
            <a:avLst/>
          </a:prstGeom>
          <a:solidFill>
            <a:srgbClr val="1A4A5C"/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2423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80160" y="2423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transformations.py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56032" y="2971800"/>
            <a:ext cx="8412480" cy="530352"/>
          </a:xfrm>
          <a:prstGeom prst="rect">
            <a:avLst/>
          </a:prstGeom>
          <a:solidFill>
            <a:srgbClr val="4A2D62"/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30632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80160" y="30632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streaming.py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" y="3611880"/>
            <a:ext cx="8412480" cy="530352"/>
          </a:xfrm>
          <a:prstGeom prst="rect">
            <a:avLst/>
          </a:prstGeom>
          <a:solidFill>
            <a:srgbClr val="623A1A"/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" y="37033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80160" y="37033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ml_pipeline.py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6032" y="4251960"/>
            <a:ext cx="8412480" cy="530352"/>
          </a:xfrm>
          <a:prstGeom prst="rect">
            <a:avLst/>
          </a:prstGeom>
          <a:solidFill>
            <a:srgbClr val="2D4A1A"/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43434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80160" y="4343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eda.py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0" y="10972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40K synthetic trips + 35 zones → data/sample/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0" y="17373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schema CSV → Parquet (curated/trips)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0" y="2377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+ Features + Broadcast Join + Spark SQL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29200" y="30175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12-file micro-batch → complete aggregation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0" y="36576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+ LR → RMSE 3.87, R² 0.87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0" y="42976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charts → docs/figures/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29260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Demand &amp; Duration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56032" y="1005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SQL aggregations over the feature table (39,600 valid rows)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56032" y="1005840"/>
            <a:ext cx="1280160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01752" y="100584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554480" y="1005840"/>
            <a:ext cx="2011680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600200" y="100584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84448" y="1005840"/>
            <a:ext cx="1828800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30168" y="100584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Duration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31536" y="1005840"/>
            <a:ext cx="1554480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77256" y="100584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Fare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6032" y="1389888"/>
            <a:ext cx="128016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01752" y="1389888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0–5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554480" y="1389888"/>
            <a:ext cx="201168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600200" y="1389888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Overnight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84448" y="1389888"/>
            <a:ext cx="182880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30168" y="138988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min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31536" y="1389888"/>
            <a:ext cx="155448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7256" y="138988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$11.5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6032" y="1810512"/>
            <a:ext cx="1280160" cy="384048"/>
          </a:xfrm>
          <a:prstGeom prst="rect">
            <a:avLst/>
          </a:prstGeom>
          <a:solidFill>
            <a:srgbClr val="1E3A4A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01752" y="1810512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7–10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54480" y="1810512"/>
            <a:ext cx="2011680" cy="384048"/>
          </a:xfrm>
          <a:prstGeom prst="rect">
            <a:avLst/>
          </a:prstGeom>
          <a:solidFill>
            <a:srgbClr val="1E3A4A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600200" y="1810512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Rush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584448" y="1810512"/>
            <a:ext cx="1828800" cy="384048"/>
          </a:xfrm>
          <a:prstGeom prst="rect">
            <a:avLst/>
          </a:prstGeom>
          <a:solidFill>
            <a:srgbClr val="1E3A4A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30168" y="181051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~18.7 min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31536" y="1810512"/>
            <a:ext cx="1554480" cy="384048"/>
          </a:xfrm>
          <a:prstGeom prst="rect">
            <a:avLst/>
          </a:prstGeom>
          <a:solidFill>
            <a:srgbClr val="1E3A4A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77256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$14.7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6032" y="2231136"/>
            <a:ext cx="128016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01752" y="2231136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11–15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554480" y="2231136"/>
            <a:ext cx="201168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600200" y="2231136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84448" y="2231136"/>
            <a:ext cx="182880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630168" y="2231136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~12.3 min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31536" y="2231136"/>
            <a:ext cx="155448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77256" y="2231136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$12.4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6032" y="2651760"/>
            <a:ext cx="1280160" cy="384048"/>
          </a:xfrm>
          <a:prstGeom prst="rect">
            <a:avLst/>
          </a:prstGeom>
          <a:solidFill>
            <a:srgbClr val="1E3A4A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01752" y="2651760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16–19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54480" y="2651760"/>
            <a:ext cx="2011680" cy="384048"/>
          </a:xfrm>
          <a:prstGeom prst="rect">
            <a:avLst/>
          </a:prstGeom>
          <a:solidFill>
            <a:srgbClr val="1E3A4A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600200" y="2651760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Rush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84448" y="2651760"/>
            <a:ext cx="1828800" cy="384048"/>
          </a:xfrm>
          <a:prstGeom prst="rect">
            <a:avLst/>
          </a:prstGeom>
          <a:solidFill>
            <a:srgbClr val="1E3A4A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630168" y="26517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~21.1 min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431536" y="2651760"/>
            <a:ext cx="1554480" cy="384048"/>
          </a:xfrm>
          <a:prstGeom prst="rect">
            <a:avLst/>
          </a:prstGeom>
          <a:solidFill>
            <a:srgbClr val="1E3A4A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477256" y="265176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$15.5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6032" y="3072384"/>
            <a:ext cx="128016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01752" y="3072384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20–23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54480" y="3072384"/>
            <a:ext cx="201168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1600200" y="3072384"/>
            <a:ext cx="1920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Evening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584448" y="3072384"/>
            <a:ext cx="182880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630168" y="3072384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~12.4 min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431536" y="3072384"/>
            <a:ext cx="1554480" cy="384048"/>
          </a:xfrm>
          <a:prstGeom prst="rect">
            <a:avLst/>
          </a:prstGeom>
          <a:solidFill>
            <a:srgbClr val="131929"/>
          </a:solidFill>
          <a:ln w="12700">
            <a:solidFill>
              <a:srgbClr val="1A28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5477256" y="3072384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$12.4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7132320" y="1005840"/>
            <a:ext cx="1737360" cy="3931920"/>
          </a:xfrm>
          <a:prstGeom prst="rect">
            <a:avLst/>
          </a:prstGeom>
          <a:solidFill>
            <a:srgbClr val="131929"/>
          </a:solidFill>
          <a:ln w="1270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178040" y="105156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Pickup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178040" y="1664208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Times Sq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178040" y="2212848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Penn Station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7178040" y="2761488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Midtown Ctr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178040" y="3310128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JFK Airport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178040" y="3858768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LaGuardia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256032" y="4480560"/>
            <a:ext cx="6675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Rush-hour congestion nearly DOUBLES trip duration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(same ~2.9 mi distance, 7-10 vs 0-5 AM)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37744" y="1828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MLlib — Trip Duration Regression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19456" y="484632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(primary)  vs  Linear Regression (baseline)  ·  80/20 split, seed 42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56032" y="960120"/>
            <a:ext cx="4206240" cy="2560320"/>
          </a:xfrm>
          <a:prstGeom prst="rect">
            <a:avLst/>
          </a:prstGeom>
          <a:solidFill>
            <a:srgbClr val="0E3D2A"/>
          </a:solidFill>
          <a:ln w="12700">
            <a:solidFill>
              <a:srgbClr val="20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93192" y="1051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93192" y="13716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93192" y="182880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3192" y="208483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3.87 min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46504" y="182880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46504" y="208483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2.63 min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099816" y="182880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99816" y="208483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0.867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709160" y="960120"/>
            <a:ext cx="4206240" cy="2560320"/>
          </a:xfrm>
          <a:prstGeom prst="rect">
            <a:avLst/>
          </a:prstGeom>
          <a:solidFill>
            <a:srgbClr val="0E2E3D"/>
          </a:solidFill>
          <a:ln w="12700">
            <a:solidFill>
              <a:srgbClr val="204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051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13716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46320" y="182880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08483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3.89 min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9632" y="182880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9632" y="208483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2.94 min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552944" y="182880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552944" y="2084832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0.866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256032" y="3657600"/>
            <a:ext cx="8686800" cy="1280160"/>
          </a:xfrm>
          <a:prstGeom prst="rect">
            <a:avLst/>
          </a:prstGeom>
          <a:solidFill>
            <a:srgbClr val="131929"/>
          </a:solidFill>
          <a:ln w="1270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65760" y="3703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Feature Importances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3963695"/>
            <a:ext cx="999805" cy="974065"/>
          </a:xfrm>
          <a:prstGeom prst="rect">
            <a:avLst/>
          </a:prstGeom>
          <a:solidFill>
            <a:srgbClr val="F5A623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47472" y="40233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trip_distance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103119" y="4038183"/>
            <a:ext cx="780757" cy="411480"/>
          </a:xfrm>
          <a:prstGeom prst="rect">
            <a:avLst/>
          </a:prstGeom>
          <a:solidFill>
            <a:srgbClr val="F5A623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066544" y="40233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is_rush_hour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785615" y="4114801"/>
            <a:ext cx="780757" cy="315926"/>
          </a:xfrm>
          <a:prstGeom prst="rect">
            <a:avLst/>
          </a:prstGeom>
          <a:solidFill>
            <a:srgbClr val="00C9A7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785616" y="40233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pickup_hour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04688" y="4434840"/>
            <a:ext cx="73152" cy="4115"/>
          </a:xfrm>
          <a:prstGeom prst="rect">
            <a:avLst/>
          </a:prstGeom>
          <a:solidFill>
            <a:srgbClr val="00C9A7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504688" y="40233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passenger_count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223760" y="4434840"/>
            <a:ext cx="73152" cy="4115"/>
          </a:xfrm>
          <a:prstGeom prst="rect">
            <a:avLst/>
          </a:prstGeom>
          <a:solidFill>
            <a:srgbClr val="00C9A7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223760" y="40233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pickup_dow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29260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Structured Streaming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56032" y="751918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real-time feed  ·  12 micro-batches  ·  trigger(availableNow=True)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56032" y="1051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56032" y="1508760"/>
            <a:ext cx="36576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56032" y="1508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" y="1508760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sample into 12 CSVs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1709928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data/stream_source/batch_000.csv … batch_011.csv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" y="2130552"/>
            <a:ext cx="36576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6032" y="213055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2130552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reader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9808" y="233172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maxFilesPerTrigger=1 — one file per micro-batch trigger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6032" y="2752344"/>
            <a:ext cx="36576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56032" y="2752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" y="2752344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aggregation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49808" y="2953512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 + avg_fare + avg_duration_min per pickup_hour (complete mode)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6032" y="3374136"/>
            <a:ext cx="36576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56032" y="33741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9808" y="3374136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termination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9808" y="3575304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trigger(availableNow=True) processes all batches then stops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" y="3995928"/>
            <a:ext cx="36576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56032" y="3995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9808" y="3995928"/>
            <a:ext cx="8046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Sink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49808" y="4197096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table → queried → written to data/outputs/streaming_hourly_summary/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6032" y="4663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Streaming aggregation reproduces the same hourly demand/duration profile as batch SQL — consistency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56032" y="29260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 &amp; Future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56032" y="1005840"/>
            <a:ext cx="4206240" cy="1600200"/>
          </a:xfrm>
          <a:prstGeom prst="rect">
            <a:avLst/>
          </a:prstGeom>
          <a:solidFill>
            <a:srgbClr val="131929"/>
          </a:solidFill>
          <a:ln w="1270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93192" y="11155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⏱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78992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&gt; Geography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Rush-hour status and pickup hour explain ~21% of duration — more than borough or payment type.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005840"/>
            <a:ext cx="4206240" cy="1600200"/>
          </a:xfrm>
          <a:prstGeom prst="rect">
            <a:avLst/>
          </a:prstGeom>
          <a:solidFill>
            <a:srgbClr val="131929"/>
          </a:solidFill>
          <a:ln w="1270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46320" y="11155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📏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53212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Dominates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55448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trip_distance (importance 0.78) is the strongest predictor, but it under-explains rush-hour trips by up to 2× without time features.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" y="2926080"/>
            <a:ext cx="4206240" cy="1600200"/>
          </a:xfrm>
          <a:prstGeom prst="rect">
            <a:avLst/>
          </a:prstGeom>
          <a:solidFill>
            <a:srgbClr val="131929"/>
          </a:solidFill>
          <a:ln w="1270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93192" y="30358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🏙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78992" y="303580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Manhattan Concentration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3192" y="347472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of pickups originate in Manhattan; Times Square alone accounts for ~6% of all trips.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926080"/>
            <a:ext cx="4206240" cy="1600200"/>
          </a:xfrm>
          <a:prstGeom prst="rect">
            <a:avLst/>
          </a:prstGeom>
          <a:solidFill>
            <a:srgbClr val="131929"/>
          </a:solidFill>
          <a:ln w="1270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303580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🌊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532120" y="303580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≡ Batch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47472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4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aggregation and batch SQL produce identical hourly profiles — pipeline is internally consistent.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6032" y="461772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hyperparameter tuning (CrossValidator), weather joins, event-time watermarking, cluster deployment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F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200400" y="0"/>
            <a:ext cx="5943600" cy="51435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383280" y="457200"/>
            <a:ext cx="53949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0" dirty="0">
                <a:solidFill>
                  <a:srgbClr val="000000"/>
                </a:solidFill>
              </a:rPr>
              <a:t>🚕</a:t>
            </a:r>
            <a:endParaRPr lang="en-US" sz="16000" dirty="0"/>
          </a:p>
        </p:txBody>
      </p:sp>
      <p:sp>
        <p:nvSpPr>
          <p:cNvPr id="5" name="Text 3"/>
          <p:cNvSpPr/>
          <p:nvPr/>
        </p:nvSpPr>
        <p:spPr>
          <a:xfrm>
            <a:off x="274320" y="5486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274320" y="12344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74320" y="201168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Gopi Bharath Makkena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@gmakkena9  ·  ITCS 6190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2026  ·  UNC Charlotte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365760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run.sh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command. Full pipeline.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734</Words>
  <Application>Microsoft Office PowerPoint</Application>
  <PresentationFormat>On-screen Show (16:9)</PresentationFormat>
  <Paragraphs>173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NYC Taxi Trip-Duration Analysis — ITCS 6190</dc:title>
  <dc:subject>PptxGenJS Presentation</dc:subject>
  <dc:creator>Gopi Bharath Makkena</dc:creator>
  <cp:lastModifiedBy>Mounika Bharath</cp:lastModifiedBy>
  <cp:revision>2</cp:revision>
  <dcterms:created xsi:type="dcterms:W3CDTF">2026-06-10T18:17:39Z</dcterms:created>
  <dcterms:modified xsi:type="dcterms:W3CDTF">2026-06-15T16:26:02Z</dcterms:modified>
</cp:coreProperties>
</file>