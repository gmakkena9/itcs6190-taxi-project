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9728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🚕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3566160" y="45720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Trip-Duration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56616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End-to-End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66160" y="3566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ITCS 6190 — Cloud Computing for Data Analysis  |  Summer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 Bharath Makkena  ·  Solo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5 minutes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predicting and 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773936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773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773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029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APIs → SQL → Streaming → MLlib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542032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42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Demand Patterns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79806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where New Yorkers hail cabs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310128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310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66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0.87 — distance + rush-hour drive duration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0782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3342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for dispatchers &amp;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Yellow Taxi Trip Records  ·  40,000-row seeded sample (+ real 3M-row validation)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14800" cy="36576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005840"/>
            <a:ext cx="4343400" cy="36576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trip duration (minutes) from distance, time-of-day, and pickup zone?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demand and duration vary across the city — when and where are the hotspots?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06440" y="160934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sample rows (13 cols)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048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06440" y="2103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TLC Jan-2024 Parquet rows (validated)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5420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06440" y="25968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zones (Manhattan, Queens, Brooklyn)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035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06440" y="30906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schema columns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5295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06440" y="35844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rows (injected for cleaning demo)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bash run.sh command chains every Spark stage end-to-end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412480" cy="530352"/>
          </a:xfrm>
          <a:prstGeom prst="rect">
            <a:avLst/>
          </a:prstGeom>
          <a:solidFill>
            <a:srgbClr val="2D4263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generate_sample.py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691640"/>
            <a:ext cx="8412480" cy="530352"/>
          </a:xfrm>
          <a:prstGeom prst="rect">
            <a:avLst/>
          </a:prstGeom>
          <a:solidFill>
            <a:srgbClr val="1A5C4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ingestion.py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331720"/>
            <a:ext cx="8412480" cy="530352"/>
          </a:xfrm>
          <a:prstGeom prst="rect">
            <a:avLst/>
          </a:prstGeom>
          <a:solidFill>
            <a:srgbClr val="1A4A5C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transformations.py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2971800"/>
            <a:ext cx="8412480" cy="530352"/>
          </a:xfrm>
          <a:prstGeom prst="rect">
            <a:avLst/>
          </a:prstGeom>
          <a:solidFill>
            <a:srgbClr val="4A2D62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streaming.py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3611880"/>
            <a:ext cx="8412480" cy="530352"/>
          </a:xfrm>
          <a:prstGeom prst="rect">
            <a:avLst/>
          </a:prstGeom>
          <a:solidFill>
            <a:srgbClr val="623A1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ml_pipeline.py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4251960"/>
            <a:ext cx="8412480" cy="530352"/>
          </a:xfrm>
          <a:prstGeom prst="rect">
            <a:avLst/>
          </a:prstGeom>
          <a:solidFill>
            <a:srgbClr val="2D4A1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synthetic trips + 35 zones → data/sample/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schema CSV → Parquet (curated/trips)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Features + Broadcast Join + Spark 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12-file micro-batch → complete aggregation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LR → RMSE 3.87, R² 0.87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 → docs/figures/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Demand &amp; Duration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aggregations over the feature table (39,600 valid rows)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2801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05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1005840"/>
            <a:ext cx="20116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005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84448" y="1005840"/>
            <a:ext cx="1828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005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31536" y="1005840"/>
            <a:ext cx="15544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7256" y="1005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1389888"/>
            <a:ext cx="128016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13898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1389888"/>
            <a:ext cx="201168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1389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84448" y="1389888"/>
            <a:ext cx="182880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3898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31536" y="1389888"/>
            <a:ext cx="155448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13898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" y="1810512"/>
            <a:ext cx="128016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18105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54480" y="1810512"/>
            <a:ext cx="201168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84448" y="1810512"/>
            <a:ext cx="182880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18105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~18.7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31536" y="1810512"/>
            <a:ext cx="155448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1810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2231136"/>
            <a:ext cx="128016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22311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54480" y="2231136"/>
            <a:ext cx="201168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0200" y="22311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84448" y="2231136"/>
            <a:ext cx="182880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22311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~12.3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31536" y="2231136"/>
            <a:ext cx="155448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77256" y="22311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6032" y="2651760"/>
            <a:ext cx="128016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26517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554480" y="2651760"/>
            <a:ext cx="201168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2651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Rush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84448" y="2651760"/>
            <a:ext cx="182880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0168" y="2651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~21.1 min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31536" y="2651760"/>
            <a:ext cx="1554480" cy="384048"/>
          </a:xfrm>
          <a:prstGeom prst="rect">
            <a:avLst/>
          </a:prstGeom>
          <a:solidFill>
            <a:srgbClr val="1E3A4A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77256" y="2651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6032" y="3072384"/>
            <a:ext cx="128016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0723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54480" y="3072384"/>
            <a:ext cx="201168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00200" y="30723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Evening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584448" y="3072384"/>
            <a:ext cx="182880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0168" y="30723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~12.4 min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31536" y="3072384"/>
            <a:ext cx="1554480" cy="384048"/>
          </a:xfrm>
          <a:prstGeom prst="rect">
            <a:avLst/>
          </a:prstGeom>
          <a:solidFill>
            <a:srgbClr val="131929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77256" y="307238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32320" y="1005840"/>
            <a:ext cx="1737360" cy="393192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1051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Pickup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78040" y="166420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Times Sq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78040" y="22128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Penn Station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78040" y="276148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Midtown Ctr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78040" y="33101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JFK Airport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38587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LaGuardia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56032" y="44805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Rush-hour congestion nearly DOUBLES trip duration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~2.9 mi distance, 7-10 vs 0-5 AM)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— Trip Duration Regression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(primary)  vs  Linear Regression (baseline)  ·  80/20 split, seed 42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206240" cy="2560320"/>
          </a:xfrm>
          <a:prstGeom prst="rect">
            <a:avLst/>
          </a:prstGeom>
          <a:solidFill>
            <a:srgbClr val="0E3D2A"/>
          </a:solidFill>
          <a:ln w="12700">
            <a:solidFill>
              <a:srgbClr val="204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3.87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46504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46504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 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99816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9816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06240" cy="2560320"/>
          </a:xfrm>
          <a:prstGeom prst="rect">
            <a:avLst/>
          </a:prstGeom>
          <a:solidFill>
            <a:srgbClr val="0E2E3D"/>
          </a:solidFill>
          <a:ln w="12700">
            <a:solidFill>
              <a:srgbClr val="20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3.89 min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99632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 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52944" y="1828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52944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56032" y="3657600"/>
            <a:ext cx="8686800" cy="128016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4434840"/>
            <a:ext cx="999805" cy="107122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66544" y="4434840"/>
            <a:ext cx="208666" cy="223571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66544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is_rush_hour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85616" y="4434840"/>
            <a:ext cx="73152" cy="64465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pickup_hour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04688" y="4434840"/>
            <a:ext cx="73152" cy="4115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4434840"/>
            <a:ext cx="73152" cy="4115"/>
          </a:xfrm>
          <a:prstGeom prst="rect">
            <a:avLst/>
          </a:prstGeom>
          <a:solidFill>
            <a:srgbClr val="00C9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6032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real-time feed  ·  12 micro-batches  ·  trigger(availableNow=True)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6032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" y="1508760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5087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sample into 12 CSVs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7099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data/stream_source/batch_000.csv … batch_011.csv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130552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reader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331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maxFilesPerTrigger=1 — one file per micro-batch trigger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752344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75234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aggregation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29535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+ avg_fare + avg_duration_min per pickup_hour (complete mode)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3374136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3741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termination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57530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trigger(availableNow=True) processes all batches then stops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995928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9959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419709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table → queried → written to data/outputs/streaming_hourly_summary/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Streaming aggregation reproduces the same hourly demand/duration profile as batch SQL — consistency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9260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4206240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8992" y="1115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&gt; Geography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Rush-hour status and pickup hour explain ~21% of duration — more than borough or payment type.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06240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15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32120" y="1115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Dominates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trip_distance (importance 0.78) is the strongest predictor, but it under-explains rush-hour trips by up to 2× without time features.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926080"/>
            <a:ext cx="4206240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3035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🏙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78992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Concentration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" y="3474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pickups originate in Manhattan; Times Square alone accounts for ~6% of all trips.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600200"/>
          </a:xfrm>
          <a:prstGeom prst="rect">
            <a:avLst/>
          </a:prstGeom>
          <a:solidFill>
            <a:srgbClr val="131929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035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32120" y="30358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≡ Batch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aggregation and batch SQL produce identical hourly profiles — pipeline is internally consistent.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hyperparameter tuning (CrossValidator), weather joins, event-time watermarking, cluster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383280" y="45720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dirty="0">
                <a:solidFill>
                  <a:srgbClr val="000000"/>
                </a:solidFill>
              </a:rPr>
              <a:t>🚕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 Bharath Makkena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@gmakkena9  ·  ITCS 6190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  ·  UNC Charlotte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run.sh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Full pipeline.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Trip-Duration Analysis — ITCS 6190</dc:title>
  <dc:subject>PptxGenJS Presentation</dc:subject>
  <dc:creator>Gopi Bharath Makkena</dc:creator>
  <cp:lastModifiedBy>Gopi Bharath Makkena</cp:lastModifiedBy>
  <cp:revision>1</cp:revision>
  <dcterms:created xsi:type="dcterms:W3CDTF">2026-06-10T18:17:39Z</dcterms:created>
  <dcterms:modified xsi:type="dcterms:W3CDTF">2026-06-10T18:17:39Z</dcterms:modified>
</cp:coreProperties>
</file>